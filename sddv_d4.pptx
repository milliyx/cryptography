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943600" cy="5943600"/>
          </a:xfrm>
          <a:prstGeom prst="ellipse">
            <a:avLst/>
          </a:prstGeom>
          <a:solidFill>
            <a:srgbClr val="B87038">
              <a:alpha val="7000"/>
            </a:srgbClr>
          </a:solidFill>
          <a:ln w="12700">
            <a:solidFill>
              <a:srgbClr val="B87038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1371600"/>
            <a:ext cx="5029200" cy="5029200"/>
          </a:xfrm>
          <a:prstGeom prst="ellipse">
            <a:avLst/>
          </a:prstGeom>
          <a:solidFill>
            <a:srgbClr val="C49A3C">
              <a:alpha val="5000"/>
            </a:srgbClr>
          </a:solidFill>
          <a:ln w="12700">
            <a:solidFill>
              <a:srgbClr val="C49A3C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E22"/>
          </a:solidFill>
          <a:ln w="12700">
            <a:solidFill>
              <a:srgbClr val="7A5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3152"/>
            <a:ext cx="3108960" cy="4997196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73152"/>
            <a:ext cx="36576" cy="4997196"/>
          </a:xfrm>
          <a:prstGeom prst="rect">
            <a:avLst/>
          </a:prstGeom>
          <a:solidFill>
            <a:srgbClr val="C49A3C">
              <a:alpha val="50000"/>
            </a:srgbClr>
          </a:solidFill>
          <a:ln w="12700">
            <a:solidFill>
              <a:srgbClr val="C49A3C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502920"/>
            <a:ext cx="1499616" cy="1499616"/>
          </a:xfrm>
          <a:prstGeom prst="ellipse">
            <a:avLst/>
          </a:prstGeom>
          <a:solidFill>
            <a:srgbClr val="C49A3C">
              <a:alpha val="12000"/>
            </a:srgbClr>
          </a:solidFill>
          <a:ln w="19050">
            <a:solidFill>
              <a:srgbClr val="C49A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0432" y="914400"/>
            <a:ext cx="768096" cy="658368"/>
          </a:xfrm>
          <a:prstGeom prst="rect">
            <a:avLst/>
          </a:prstGeom>
          <a:solidFill>
            <a:srgbClr val="1C1917"/>
          </a:solidFill>
          <a:ln w="22860">
            <a:solidFill>
              <a:srgbClr val="C49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36192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" y="23317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 |  UNAM  |  FI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578608"/>
            <a:ext cx="2194560" cy="0"/>
          </a:xfrm>
          <a:prstGeom prst="line">
            <a:avLst/>
          </a:prstGeom>
          <a:noFill/>
          <a:ln w="10160">
            <a:solidFill>
              <a:srgbClr val="C49A3C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26334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" y="2999232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Barrios Aguilar Dulce Michelle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" y="328269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Contreras Colmenero Emilio Sebastian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" y="356616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Martinez Lopez Evan Emiliano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" y="3849624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Caballero Martinez Sergio Jair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502920"/>
            <a:ext cx="5577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Boveda Digital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3310128" y="130759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 de Documentos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3310128" y="2029968"/>
            <a:ext cx="5394960" cy="0"/>
          </a:xfrm>
          <a:prstGeom prst="line">
            <a:avLst/>
          </a:prstGeom>
          <a:noFill/>
          <a:ln w="12700">
            <a:solidFill>
              <a:srgbClr val="C49A3C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21214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AEAD  |  Firmas Ed25519  |  Cifrado Hibrido X25519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2578608"/>
            <a:ext cx="1719072" cy="1188720"/>
          </a:xfrm>
          <a:prstGeom prst="rect">
            <a:avLst/>
          </a:prstGeom>
          <a:solidFill>
            <a:srgbClr val="252018"/>
          </a:solidFill>
          <a:ln w="12700">
            <a:solidFill>
              <a:srgbClr val="C49A3C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10128" y="2578608"/>
            <a:ext cx="1719072" cy="64008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46704" y="26974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3346704" y="32918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57216" y="2578608"/>
            <a:ext cx="1719072" cy="1188720"/>
          </a:xfrm>
          <a:prstGeom prst="rect">
            <a:avLst/>
          </a:prstGeom>
          <a:solidFill>
            <a:srgbClr val="252018"/>
          </a:solidFill>
          <a:ln w="12700">
            <a:solidFill>
              <a:srgbClr val="C49A3C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57216" y="2578608"/>
            <a:ext cx="1719072" cy="64008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3792" y="26974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5193792" y="32918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04304" y="2578608"/>
            <a:ext cx="1719072" cy="1188720"/>
          </a:xfrm>
          <a:prstGeom prst="rect">
            <a:avLst/>
          </a:prstGeom>
          <a:solidFill>
            <a:srgbClr val="252018"/>
          </a:solidFill>
          <a:ln w="12700">
            <a:solidFill>
              <a:srgbClr val="C49A3C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04304" y="2578608"/>
            <a:ext cx="1719072" cy="64008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26974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7040880" y="32918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10128" y="39776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Rocio Aldeco Perez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438912" cy="43891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82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6384" y="201168"/>
            <a:ext cx="8065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6384" y="640080"/>
            <a:ext cx="8065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hace el sistema y que problema resuelve  —  1–2 min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4572000" cy="36576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8032" y="877824"/>
            <a:ext cx="4059936" cy="36576"/>
          </a:xfrm>
          <a:prstGeom prst="rect">
            <a:avLst/>
          </a:prstGeom>
          <a:solidFill>
            <a:srgbClr val="7A5E22"/>
          </a:solidFill>
          <a:ln w="12700">
            <a:solidFill>
              <a:srgbClr val="7A5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05840"/>
            <a:ext cx="4041648" cy="173736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05840"/>
            <a:ext cx="54864" cy="1737360"/>
          </a:xfrm>
          <a:prstGeom prst="rect">
            <a:avLst/>
          </a:prstGeom>
          <a:solidFill>
            <a:srgbClr val="9C5040"/>
          </a:solidFill>
          <a:ln w="12700">
            <a:solidFill>
              <a:srgbClr val="9C5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005840"/>
            <a:ext cx="4041648" cy="402336"/>
          </a:xfrm>
          <a:prstGeom prst="rect">
            <a:avLst/>
          </a:prstGeom>
          <a:solidFill>
            <a:srgbClr val="9C5040">
              <a:alpha val="20000"/>
            </a:srgbClr>
          </a:solidFill>
          <a:ln w="12700">
            <a:solidFill>
              <a:srgbClr val="9C5040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60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1481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Los archivos digitales se almacenan sin cifrado.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1773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Un atacante con acceso al disco puede leerlos o modificarlos.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2066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No hay forma de saber si un archivo fue alterado.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359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Compartir archivos cifrados con varias personas es complejo.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4041648" cy="173736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005840"/>
            <a:ext cx="54864" cy="1737360"/>
          </a:xfrm>
          <a:prstGeom prst="rect">
            <a:avLst/>
          </a:prstGeom>
          <a:solidFill>
            <a:srgbClr val="5A8070"/>
          </a:solidFill>
          <a:ln w="12700">
            <a:solidFill>
              <a:srgbClr val="5A80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005840"/>
            <a:ext cx="4041648" cy="402336"/>
          </a:xfrm>
          <a:prstGeom prst="rect">
            <a:avLst/>
          </a:prstGeom>
          <a:solidFill>
            <a:srgbClr val="5A8070">
              <a:alpha val="20000"/>
            </a:srgbClr>
          </a:solidFill>
          <a:ln w="12700">
            <a:solidFill>
              <a:srgbClr val="5A8070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74336" y="10607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SDDV — la solucion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74336" y="1481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Biblioteca Python de cifrado autenticado (AEAD).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74336" y="1773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Cada archivo queda sellado: confidencial e integro.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74336" y="2066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Firmado digitalmente: autoria verificable.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74336" y="2359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Cifrado hibrido: compartible con multiples destinatarios.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15968" y="171907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56032" y="2871216"/>
            <a:ext cx="2816352" cy="128016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2871216"/>
            <a:ext cx="54864" cy="1280160"/>
          </a:xfrm>
          <a:prstGeom prst="rect">
            <a:avLst/>
          </a:prstGeom>
          <a:solidFill>
            <a:srgbClr val="5A8070"/>
          </a:solidFill>
          <a:ln w="12700">
            <a:solidFill>
              <a:srgbClr val="5A80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" y="292608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" y="3255264"/>
            <a:ext cx="25968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18688" y="2871216"/>
            <a:ext cx="2816352" cy="128016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2871216"/>
            <a:ext cx="54864" cy="128016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92608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37560" y="3255264"/>
            <a:ext cx="25968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128 bits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cualquier cambio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81344" y="2871216"/>
            <a:ext cx="2816352" cy="128016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81344" y="2871216"/>
            <a:ext cx="54864" cy="1280160"/>
          </a:xfrm>
          <a:prstGeom prst="rect">
            <a:avLst/>
          </a:prstGeom>
          <a:solidFill>
            <a:srgbClr val="B87038"/>
          </a:solidFill>
          <a:ln w="12700">
            <a:solidFill>
              <a:srgbClr val="B8703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292608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Autenticidad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00216" y="3255264"/>
            <a:ext cx="25968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Ed25519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el emisor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6032" y="4261104"/>
            <a:ext cx="8631936" cy="512064"/>
          </a:xfrm>
          <a:prstGeom prst="rect">
            <a:avLst/>
          </a:prstGeom>
          <a:solidFill>
            <a:srgbClr val="180E08"/>
          </a:solidFill>
          <a:ln w="12700">
            <a:solidFill>
              <a:srgbClr val="3831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2976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producidos: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76272" y="4315968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SDDV  —  cifrado simetrico (un destinatario)  |  SDDH  —  cifrado hibrido (multiples destinatarios)  |  +SIGS  —  contenedor firmado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41210"/>
          </a:solidFill>
          <a:ln w="6350">
            <a:solidFill>
              <a:srgbClr val="3831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9377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SDDV  ·  Criptografia  ·  UNAM 2026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0" y="4937760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Barrios  ·  Contreras  ·  Martinez  ·  Caballero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438912" cy="43891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82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6384" y="201168"/>
            <a:ext cx="8065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6384" y="640080"/>
            <a:ext cx="8065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Componentes, flujo de datos y limites de confianza  —  2–3 min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4572000" cy="36576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8032" y="877824"/>
            <a:ext cx="4059936" cy="36576"/>
          </a:xfrm>
          <a:prstGeom prst="rect">
            <a:avLst/>
          </a:prstGeom>
          <a:solidFill>
            <a:srgbClr val="7A5E22"/>
          </a:solidFill>
          <a:ln w="12700">
            <a:solidFill>
              <a:srgbClr val="7A5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987552"/>
            <a:ext cx="5074920" cy="3291840"/>
          </a:xfrm>
          <a:prstGeom prst="rect">
            <a:avLst/>
          </a:prstGeom>
          <a:solidFill>
            <a:srgbClr val="F5F0E8"/>
          </a:solidFill>
          <a:ln w="19050">
            <a:solidFill>
              <a:srgbClr val="C49A3C"/>
            </a:solidFill>
            <a:prstDash val="solid"/>
          </a:ln>
        </p:spPr>
      </p:sp>
      <p:pic>
        <p:nvPicPr>
          <p:cNvPr id="9" name="Image 0" descr="/sessions/blissful-eloquent-wozniak/mnt/Proyecto/docs/architectur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1024128"/>
            <a:ext cx="4946904" cy="32186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0" y="987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1280160"/>
            <a:ext cx="3383280" cy="603504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1280160"/>
            <a:ext cx="54864" cy="603504"/>
          </a:xfrm>
          <a:prstGeom prst="rect">
            <a:avLst/>
          </a:prstGeom>
          <a:solidFill>
            <a:srgbClr val="5A8070"/>
          </a:solidFill>
          <a:ln w="12700">
            <a:solidFill>
              <a:srgbClr val="5A80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14416" y="13258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(contenedor)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14416" y="15453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SDDV / SDDH — archivo cifrado en disco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0" y="1975104"/>
            <a:ext cx="3383280" cy="603504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1975104"/>
            <a:ext cx="54864" cy="603504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14416" y="20208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Keystore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14416" y="22402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Llaves Ed25519 + X25519 en PEM PKCS8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486400" y="2670048"/>
            <a:ext cx="3383280" cy="603504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0" y="2670048"/>
            <a:ext cx="54864" cy="603504"/>
          </a:xfrm>
          <a:prstGeom prst="rect">
            <a:avLst/>
          </a:prstGeom>
          <a:solidFill>
            <a:srgbClr val="B87038"/>
          </a:solidFill>
          <a:ln w="12700">
            <a:solidFill>
              <a:srgbClr val="B870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14416" y="27157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AEAD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14416" y="29352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aead.py — cifra y autentica el archivo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86400" y="3364992"/>
            <a:ext cx="3383280" cy="603504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0" y="3364992"/>
            <a:ext cx="54864" cy="603504"/>
          </a:xfrm>
          <a:prstGeom prst="rect">
            <a:avLst/>
          </a:prstGeom>
          <a:solidFill>
            <a:srgbClr val="6A8C6A"/>
          </a:solidFill>
          <a:ln w="12700">
            <a:solidFill>
              <a:srgbClr val="6A8C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14416" y="34107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Firmas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614416" y="36301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signatures.py — Encrypt-then-Sign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86400" y="4096512"/>
            <a:ext cx="3383280" cy="877824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86400" y="4096512"/>
            <a:ext cx="54864" cy="877824"/>
          </a:xfrm>
          <a:prstGeom prst="rect">
            <a:avLst/>
          </a:prstGeom>
          <a:solidFill>
            <a:srgbClr val="9C5040"/>
          </a:solidFill>
          <a:ln w="12700">
            <a:solidFill>
              <a:srgbClr val="9C504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14416" y="4142232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confianza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614416" y="4389120"/>
            <a:ext cx="3145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Confiable: proceso en RAM, llaves del usuario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confiable: disco, red, servidor de archivos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56032" y="4352544"/>
            <a:ext cx="5074920" cy="658368"/>
          </a:xfrm>
          <a:prstGeom prst="rect">
            <a:avLst/>
          </a:prstGeom>
          <a:solidFill>
            <a:srgbClr val="180E08"/>
          </a:solidFill>
          <a:ln w="12700">
            <a:solidFill>
              <a:srgbClr val="3831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389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60120" y="43891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627632" y="43891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655064" y="43891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encrypt_file()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2322576" y="43891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2350008" y="43891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SDDV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3017520" y="43891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044952" y="43891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sign_container()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3712464" y="43891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739896" y="43891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Firmado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4407408" y="43891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434840" y="43891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/ Red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41210"/>
          </a:solidFill>
          <a:ln w="6350">
            <a:solidFill>
              <a:srgbClr val="38312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84048" y="49377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SDDV  ·  Criptografia  ·  UNAM 2026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572000" y="4937760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Barrios  ·  Contreras  ·  Martinez  ·  Caballero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438912" cy="43891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82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6384" y="201168"/>
            <a:ext cx="8065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Amenazas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6384" y="640080"/>
            <a:ext cx="8065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Atacante, activos protegidos y suposiciones del sistema  —  2–3 min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4572000" cy="36576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8032" y="877824"/>
            <a:ext cx="4059936" cy="36576"/>
          </a:xfrm>
          <a:prstGeom prst="rect">
            <a:avLst/>
          </a:prstGeom>
          <a:solidFill>
            <a:srgbClr val="7A5E22"/>
          </a:solidFill>
          <a:ln w="12700">
            <a:solidFill>
              <a:srgbClr val="7A5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05840"/>
            <a:ext cx="2633472" cy="374904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05840"/>
            <a:ext cx="54864" cy="3749040"/>
          </a:xfrm>
          <a:prstGeom prst="rect">
            <a:avLst/>
          </a:prstGeom>
          <a:solidFill>
            <a:srgbClr val="9C5040"/>
          </a:solidFill>
          <a:ln w="12700">
            <a:solidFill>
              <a:srgbClr val="9C5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005840"/>
            <a:ext cx="2633472" cy="402336"/>
          </a:xfrm>
          <a:prstGeom prst="rect">
            <a:avLst/>
          </a:prstGeom>
          <a:solidFill>
            <a:srgbClr val="9C5040">
              <a:alpha val="20000"/>
            </a:srgbClr>
          </a:solidFill>
          <a:ln w="12700">
            <a:solidFill>
              <a:srgbClr val="9C5040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60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Atacante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1490472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Acceso fisico al disco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130552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Captura pasiva de red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" y="2770632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Modificacion activa de archivos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3410712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Destinatario no autorizado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" y="4050792"/>
            <a:ext cx="239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Servidor de almacenamiento comprometido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90672" y="1005840"/>
            <a:ext cx="2633472" cy="374904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90672" y="1005840"/>
            <a:ext cx="54864" cy="374904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1005840"/>
            <a:ext cx="2633472" cy="402336"/>
          </a:xfrm>
          <a:prstGeom prst="rect">
            <a:avLst/>
          </a:prstGeom>
          <a:solidFill>
            <a:srgbClr val="C49A3C">
              <a:alpha val="20000"/>
            </a:srgbClr>
          </a:solidFill>
          <a:ln w="12700">
            <a:solidFill>
              <a:srgbClr val="C49A3C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10607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protegidos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18688" y="14904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archivo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18688" y="174650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con AEAD 256 bits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18688" y="21305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del emisor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18688" y="238658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Ed25519 verificable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18688" y="277063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destinatarios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18688" y="302666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AAD, protegida por TAG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18688" y="34107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privada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18688" y="366674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 PKCS8, cifrada en disco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18688" y="40507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de metadatos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18688" y="430682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y timestamp en AAD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25312" y="1005840"/>
            <a:ext cx="2962656" cy="374904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25312" y="1005840"/>
            <a:ext cx="54864" cy="3749040"/>
          </a:xfrm>
          <a:prstGeom prst="rect">
            <a:avLst/>
          </a:prstGeom>
          <a:solidFill>
            <a:srgbClr val="6A8C6A"/>
          </a:solidFill>
          <a:ln w="12700">
            <a:solidFill>
              <a:srgbClr val="6A8C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25312" y="1005840"/>
            <a:ext cx="2962656" cy="402336"/>
          </a:xfrm>
          <a:prstGeom prst="rect">
            <a:avLst/>
          </a:prstGeom>
          <a:solidFill>
            <a:srgbClr val="6A8C6A">
              <a:alpha val="20000"/>
            </a:srgbClr>
          </a:solidFill>
          <a:ln w="12700">
            <a:solidFill>
              <a:srgbClr val="6A8C6A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106070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Suposiciones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53328" y="1490472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RAM es confiable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53328" y="1737360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El proceso en ejecucion no esta comprometido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53328" y="2295144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Llaves privadas son secretas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53328" y="2542032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El usuario protege su contrasena PEM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53328" y="3099816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Canal de distribucion de llaves publicas esta fuera del scope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053328" y="3904488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La implementacion de cryptography es correcta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53328" y="4151376"/>
            <a:ext cx="27066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Usamos la biblioteca estandar de Python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41210"/>
          </a:solidFill>
          <a:ln w="6350">
            <a:solidFill>
              <a:srgbClr val="3831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49377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SDDV  ·  Criptografia  ·  UNAM 2026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0" y="4937760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Barrios  ·  Contreras  ·  Martinez  ·  Caballero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438912" cy="43891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82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6384" y="201168"/>
            <a:ext cx="8065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Criptografico — D2: AEAD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6384" y="640080"/>
            <a:ext cx="8065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Eleccion AEAD, estrategia de nonce y metadatos + AAD  —  (3–4 min total con D3)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4572000" cy="36576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8032" y="877824"/>
            <a:ext cx="4059936" cy="36576"/>
          </a:xfrm>
          <a:prstGeom prst="rect">
            <a:avLst/>
          </a:prstGeom>
          <a:solidFill>
            <a:srgbClr val="7A5E22"/>
          </a:solidFill>
          <a:ln w="12700">
            <a:solidFill>
              <a:srgbClr val="7A5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05840"/>
            <a:ext cx="2651760" cy="3767328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05840"/>
            <a:ext cx="54864" cy="3767328"/>
          </a:xfrm>
          <a:prstGeom prst="rect">
            <a:avLst/>
          </a:prstGeom>
          <a:solidFill>
            <a:srgbClr val="5A8070"/>
          </a:solidFill>
          <a:ln w="12700">
            <a:solidFill>
              <a:srgbClr val="5A80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005840"/>
            <a:ext cx="2651760" cy="402336"/>
          </a:xfrm>
          <a:prstGeom prst="rect">
            <a:avLst/>
          </a:prstGeom>
          <a:solidFill>
            <a:srgbClr val="5A8070">
              <a:alpha val="20000"/>
            </a:srgbClr>
          </a:solidFill>
          <a:ln w="12700">
            <a:solidFill>
              <a:srgbClr val="5A8070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607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Eleccion AEAD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14996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18105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Estandar NIST, acelerado por hardware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08483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256 bits de clave — 128 bits de seguridad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35915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TAG de 128 bits sobre ciphertext + AAD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706624"/>
            <a:ext cx="2286000" cy="0"/>
          </a:xfrm>
          <a:prstGeom prst="line">
            <a:avLst/>
          </a:prstGeom>
          <a:noFill/>
          <a:ln w="10160">
            <a:solidFill>
              <a:srgbClr val="3831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78892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ChaCha20-Poly1305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310896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Igualmente seguro, eficiente en software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38328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Preferible sin aceleracion hardware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365760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Misma interfaz, alternativo al usuario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90672" y="1005840"/>
            <a:ext cx="2651760" cy="3767328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090672" y="1005840"/>
            <a:ext cx="54864" cy="3767328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90672" y="1005840"/>
            <a:ext cx="2651760" cy="402336"/>
          </a:xfrm>
          <a:prstGeom prst="rect">
            <a:avLst/>
          </a:prstGeom>
          <a:solidFill>
            <a:srgbClr val="C49A3C">
              <a:alpha val="20000"/>
            </a:srgbClr>
          </a:solidFill>
          <a:ln w="12700">
            <a:solidFill>
              <a:srgbClr val="C49A3C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18688" y="10607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Nonce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18688" y="14996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bits = 12 bytes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18688" y="19019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con os.urandom()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18688" y="215798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CSPRNG del sistema operativo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18688" y="256032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 por operacion de cifrado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18688" y="28163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reutiliza la misma (clave, nonce)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18688" y="32186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Almacenado en el contenedor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18688" y="347472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receptor no necesita canal adicional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18688" y="387705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Colision despreciable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18688" y="413308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2^48 cifrados para P=10^-6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25312" y="1005840"/>
            <a:ext cx="2962656" cy="3767328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25312" y="1005840"/>
            <a:ext cx="54864" cy="3767328"/>
          </a:xfrm>
          <a:prstGeom prst="rect">
            <a:avLst/>
          </a:prstGeom>
          <a:solidFill>
            <a:srgbClr val="B87038"/>
          </a:solidFill>
          <a:ln w="12700">
            <a:solidFill>
              <a:srgbClr val="B870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25312" y="1005840"/>
            <a:ext cx="2962656" cy="402336"/>
          </a:xfrm>
          <a:prstGeom prst="rect">
            <a:avLst/>
          </a:prstGeom>
          <a:solidFill>
            <a:srgbClr val="B87038">
              <a:alpha val="20000"/>
            </a:srgbClr>
          </a:solidFill>
          <a:ln w="12700">
            <a:solidFill>
              <a:srgbClr val="B87038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53328" y="106070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7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+ AAD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53328" y="1499616"/>
            <a:ext cx="2706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 = datos autenticados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NO cifrados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44768" y="2029968"/>
            <a:ext cx="2615184" cy="0"/>
          </a:xfrm>
          <a:prstGeom prst="line">
            <a:avLst/>
          </a:prstGeom>
          <a:noFill/>
          <a:ln w="10160">
            <a:solidFill>
              <a:srgbClr val="3831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53328" y="2103120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el AAD: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53328" y="2395728"/>
            <a:ext cx="54864" cy="256032"/>
          </a:xfrm>
          <a:prstGeom prst="rect">
            <a:avLst/>
          </a:prstGeom>
          <a:solidFill>
            <a:srgbClr val="B87038"/>
          </a:solidFill>
          <a:ln w="12700">
            <a:solidFill>
              <a:srgbClr val="B870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81344" y="2395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81344" y="26517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renombrar el contenedor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053328" y="2761488"/>
            <a:ext cx="54864" cy="256032"/>
          </a:xfrm>
          <a:prstGeom prst="rect">
            <a:avLst/>
          </a:prstGeom>
          <a:solidFill>
            <a:srgbClr val="B87038"/>
          </a:solidFill>
          <a:ln w="12700">
            <a:solidFill>
              <a:srgbClr val="B870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81344" y="2761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Unix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81344" y="30175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copiar el tiempo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53328" y="3127248"/>
            <a:ext cx="54864" cy="256032"/>
          </a:xfrm>
          <a:prstGeom prst="rect">
            <a:avLst/>
          </a:prstGeom>
          <a:solidFill>
            <a:srgbClr val="B87038"/>
          </a:solidFill>
          <a:ln w="12700">
            <a:solidFill>
              <a:srgbClr val="B870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81344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(ALGO_ID)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81344" y="33832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cambiar el algoritmo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053328" y="3493008"/>
            <a:ext cx="54864" cy="256032"/>
          </a:xfrm>
          <a:prstGeom prst="rect">
            <a:avLst/>
          </a:prstGeom>
          <a:solidFill>
            <a:srgbClr val="B87038"/>
          </a:solidFill>
          <a:ln w="12700">
            <a:solidFill>
              <a:srgbClr val="B870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81344" y="34930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destinatarios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81344" y="37490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(SDDH) Integridad del acceso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053328" y="3913632"/>
            <a:ext cx="2706624" cy="658368"/>
          </a:xfrm>
          <a:prstGeom prst="rect">
            <a:avLst/>
          </a:prstGeom>
          <a:solidFill>
            <a:srgbClr val="0E1208"/>
          </a:solidFill>
          <a:ln w="12700">
            <a:solidFill>
              <a:srgbClr val="6A8C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44768" y="3968496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6A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cualquier byte del AAD cambia,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6A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TAG falla al verificar.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41210"/>
          </a:solidFill>
          <a:ln w="6350">
            <a:solidFill>
              <a:srgbClr val="3831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4048" y="49377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SDDV  ·  Criptografia  ·  UNAM 2026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572000" y="4937760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Barrios  ·  Contreras  ·  Martinez  ·  Caballero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438912" cy="43891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82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6384" y="201168"/>
            <a:ext cx="8065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 Criptografico — D3: Cifrado Hibrido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6384" y="640080"/>
            <a:ext cx="8065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KEM+DEM, manejo de destinatarios e identificacion de llaves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4572000" cy="36576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8032" y="877824"/>
            <a:ext cx="4059936" cy="36576"/>
          </a:xfrm>
          <a:prstGeom prst="rect">
            <a:avLst/>
          </a:prstGeom>
          <a:solidFill>
            <a:srgbClr val="7A5E22"/>
          </a:solidFill>
          <a:ln w="12700">
            <a:solidFill>
              <a:srgbClr val="7A5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05840"/>
            <a:ext cx="4160520" cy="329184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05840"/>
            <a:ext cx="54864" cy="3291840"/>
          </a:xfrm>
          <a:prstGeom prst="rect">
            <a:avLst/>
          </a:prstGeom>
          <a:solidFill>
            <a:srgbClr val="5A8070"/>
          </a:solidFill>
          <a:ln w="12700">
            <a:solidFill>
              <a:srgbClr val="5A80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005840"/>
            <a:ext cx="4160520" cy="402336"/>
          </a:xfrm>
          <a:prstGeom prst="rect">
            <a:avLst/>
          </a:prstGeom>
          <a:solidFill>
            <a:srgbClr val="5A8070">
              <a:alpha val="20000"/>
            </a:srgbClr>
          </a:solidFill>
          <a:ln w="12700">
            <a:solidFill>
              <a:srgbClr val="5A8070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6070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KEM+DEM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149047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 —  Data Encapsulation Mechanism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177393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Generar file_key aleatoria de 256 bits (CSPRNG)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04825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Cifrar el archivo con AES-256-GCM usando file_key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32257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El AAD incluye la lista completa de destinatarios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651760"/>
            <a:ext cx="3822192" cy="0"/>
          </a:xfrm>
          <a:prstGeom prst="line">
            <a:avLst/>
          </a:prstGeom>
          <a:noFill/>
          <a:ln w="10160">
            <a:solidFill>
              <a:srgbClr val="3831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724912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  —  Key Encapsulation Mechanism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30175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Por cada destinatario: generar par X25519 efimero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31012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ECDH(eph_priv, dest_pub)  -&gt;  secreto de 32 B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360273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HKDF-SHA256(secreto, salt=fingerprint)  -&gt;  wrapping_key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" y="3895344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AESGCM(wrapping_key).encrypt(nonce, file_key)  -&gt;  48 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99432" y="1005840"/>
            <a:ext cx="2011680" cy="329184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9432" y="1005840"/>
            <a:ext cx="54864" cy="329184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99432" y="1005840"/>
            <a:ext cx="2011680" cy="402336"/>
          </a:xfrm>
          <a:prstGeom prst="rect">
            <a:avLst/>
          </a:prstGeom>
          <a:solidFill>
            <a:srgbClr val="C49A3C">
              <a:alpha val="20000"/>
            </a:srgbClr>
          </a:solidFill>
          <a:ln w="12700">
            <a:solidFill>
              <a:srgbClr val="C49A3C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106070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Destinatarios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27448" y="1499616"/>
            <a:ext cx="54864" cy="54864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4996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en AAD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173736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cambio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 el TAG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27448" y="2212848"/>
            <a:ext cx="54864" cy="54864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21284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fijo 124 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2450592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FP+EPH_PUB+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NONCE+KEY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27448" y="2926080"/>
            <a:ext cx="54864" cy="54864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926080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titular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163824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quien tiene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llave privada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27448" y="3639312"/>
            <a:ext cx="54864" cy="54864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639312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Secrecy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3877056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efimero unico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destinatario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793992" y="1005840"/>
            <a:ext cx="2084832" cy="329184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93992" y="1005840"/>
            <a:ext cx="54864" cy="3291840"/>
          </a:xfrm>
          <a:prstGeom prst="rect">
            <a:avLst/>
          </a:prstGeom>
          <a:solidFill>
            <a:srgbClr val="B87038"/>
          </a:solidFill>
          <a:ln w="12700">
            <a:solidFill>
              <a:srgbClr val="B870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93992" y="1005840"/>
            <a:ext cx="2084832" cy="402336"/>
          </a:xfrm>
          <a:prstGeom prst="rect">
            <a:avLst/>
          </a:prstGeom>
          <a:solidFill>
            <a:srgbClr val="B87038">
              <a:alpha val="20000"/>
            </a:srgbClr>
          </a:solidFill>
          <a:ln w="12700">
            <a:solidFill>
              <a:srgbClr val="B87038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22008" y="1060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Identif. de Llaves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22008" y="1499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22008" y="17647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del raw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64 hex chars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9440" y="2468880"/>
            <a:ext cx="1792224" cy="0"/>
          </a:xfrm>
          <a:prstGeom prst="line">
            <a:avLst/>
          </a:prstGeom>
          <a:noFill/>
          <a:ln w="10160">
            <a:solidFill>
              <a:srgbClr val="3831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22008" y="2542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7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container SDDH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22008" y="281635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slot guarda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FP del receptor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pueda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buscarse sin leer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resto.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49440" y="3785616"/>
            <a:ext cx="1792224" cy="0"/>
          </a:xfrm>
          <a:prstGeom prst="line">
            <a:avLst/>
          </a:prstGeom>
          <a:noFill/>
          <a:ln w="10160">
            <a:solidFill>
              <a:srgbClr val="3831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22008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receptor busca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FP -&gt; descifra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slot -&gt; obtiene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4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file_key.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" y="4416552"/>
            <a:ext cx="8631936" cy="73152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56032" y="4416552"/>
            <a:ext cx="54864" cy="731520"/>
          </a:xfrm>
          <a:prstGeom prst="rect">
            <a:avLst/>
          </a:prstGeom>
          <a:solidFill>
            <a:srgbClr val="B87038"/>
          </a:solidFill>
          <a:ln w="12700">
            <a:solidFill>
              <a:srgbClr val="B8703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44531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SDDH: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737360" y="4690872"/>
            <a:ext cx="749808" cy="384048"/>
          </a:xfrm>
          <a:prstGeom prst="rect">
            <a:avLst/>
          </a:prstGeom>
          <a:solidFill>
            <a:srgbClr val="5A8070">
              <a:alpha val="42000"/>
            </a:srgbClr>
          </a:solidFill>
          <a:ln w="12700">
            <a:solidFill>
              <a:srgbClr val="5A807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37360" y="46908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487168" y="4690872"/>
            <a:ext cx="749808" cy="384048"/>
          </a:xfrm>
          <a:prstGeom prst="rect">
            <a:avLst/>
          </a:prstGeom>
          <a:solidFill>
            <a:srgbClr val="8A7A66">
              <a:alpha val="42000"/>
            </a:srgbClr>
          </a:solidFill>
          <a:ln w="12700">
            <a:solidFill>
              <a:srgbClr val="8A7A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87168" y="469087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236976" y="4690872"/>
            <a:ext cx="1005840" cy="384048"/>
          </a:xfrm>
          <a:prstGeom prst="rect">
            <a:avLst/>
          </a:prstGeom>
          <a:solidFill>
            <a:srgbClr val="B87038">
              <a:alpha val="42000"/>
            </a:srgbClr>
          </a:solidFill>
          <a:ln w="12700">
            <a:solidFill>
              <a:srgbClr val="B8703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36976" y="46908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242816" y="4690872"/>
            <a:ext cx="914400" cy="384048"/>
          </a:xfrm>
          <a:prstGeom prst="rect">
            <a:avLst/>
          </a:prstGeom>
          <a:solidFill>
            <a:srgbClr val="B87038">
              <a:alpha val="42000"/>
            </a:srgbClr>
          </a:solidFill>
          <a:ln w="12700">
            <a:solidFill>
              <a:srgbClr val="B8703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42816" y="46908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EPH_PUB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B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157216" y="4690872"/>
            <a:ext cx="914400" cy="384048"/>
          </a:xfrm>
          <a:prstGeom prst="rect">
            <a:avLst/>
          </a:prstGeom>
          <a:solidFill>
            <a:srgbClr val="B87038">
              <a:alpha val="42000"/>
            </a:srgbClr>
          </a:solidFill>
          <a:ln w="12700">
            <a:solidFill>
              <a:srgbClr val="B8703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57216" y="46908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NONCE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071616" y="4690872"/>
            <a:ext cx="1005840" cy="384048"/>
          </a:xfrm>
          <a:prstGeom prst="rect">
            <a:avLst/>
          </a:prstGeom>
          <a:solidFill>
            <a:srgbClr val="7A6070">
              <a:alpha val="42000"/>
            </a:srgbClr>
          </a:solidFill>
          <a:ln w="12700">
            <a:solidFill>
              <a:srgbClr val="7A607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71616" y="46908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WRAPPED KEY</a:t>
            </a:r>
            <a:endParaRPr lang="en-US" sz="7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B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077456" y="4690872"/>
            <a:ext cx="658368" cy="384048"/>
          </a:xfrm>
          <a:prstGeom prst="rect">
            <a:avLst/>
          </a:prstGeom>
          <a:solidFill>
            <a:srgbClr val="6A4038">
              <a:alpha val="42000"/>
            </a:srgbClr>
          </a:solidFill>
          <a:ln w="12700">
            <a:solidFill>
              <a:srgbClr val="6A403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77456" y="469087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N dest.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735824" y="4690872"/>
            <a:ext cx="841248" cy="384048"/>
          </a:xfrm>
          <a:prstGeom prst="rect">
            <a:avLst/>
          </a:prstGeom>
          <a:solidFill>
            <a:srgbClr val="8C3A30">
              <a:alpha val="42000"/>
            </a:srgbClr>
          </a:solidFill>
          <a:ln w="12700">
            <a:solidFill>
              <a:srgbClr val="8C3A3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735824" y="4690872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+ TAG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41210"/>
          </a:solidFill>
          <a:ln w="6350">
            <a:solidFill>
              <a:srgbClr val="38312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4048" y="49377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SDDV  ·  Criptografia  ·  UNAM 2026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572000" y="4937760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Barrios  ·  Contreras  ·  Martinez  ·  Caballero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438912" cy="43891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82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86384" y="201168"/>
            <a:ext cx="8065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6384" y="640080"/>
            <a:ext cx="8065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Cifrar, compartir, descifrar y verificar fallos  —  2–3 min  |  python demo.py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877824"/>
            <a:ext cx="4572000" cy="36576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28032" y="877824"/>
            <a:ext cx="4059936" cy="36576"/>
          </a:xfrm>
          <a:prstGeom prst="rect">
            <a:avLst/>
          </a:prstGeom>
          <a:solidFill>
            <a:srgbClr val="7A5E22"/>
          </a:solidFill>
          <a:ln w="12700">
            <a:solidFill>
              <a:srgbClr val="7A5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05840"/>
            <a:ext cx="8631936" cy="841248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05840"/>
            <a:ext cx="54864" cy="841248"/>
          </a:xfrm>
          <a:prstGeom prst="rect">
            <a:avLst/>
          </a:prstGeom>
          <a:solidFill>
            <a:srgbClr val="5A8070"/>
          </a:solidFill>
          <a:ln w="12700">
            <a:solidFill>
              <a:srgbClr val="5A80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170432"/>
            <a:ext cx="457200" cy="457200"/>
          </a:xfrm>
          <a:prstGeom prst="ellipse">
            <a:avLst/>
          </a:prstGeom>
          <a:solidFill>
            <a:srgbClr val="5A8070">
              <a:alpha val="82000"/>
            </a:srgbClr>
          </a:solidFill>
          <a:ln w="19050">
            <a:solidFill>
              <a:srgbClr val="5A8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10698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Cifrar un archivo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encrypt_file() con AES-256-GCM — genera contenedor SDDV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55664" y="1069848"/>
            <a:ext cx="0" cy="731520"/>
          </a:xfrm>
          <a:prstGeom prst="line">
            <a:avLst/>
          </a:prstGeom>
          <a:noFill/>
          <a:ln w="12700">
            <a:solidFill>
              <a:srgbClr val="3831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Contenedor SDDV creado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1947672"/>
            <a:ext cx="8631936" cy="841248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1947672"/>
            <a:ext cx="54864" cy="841248"/>
          </a:xfrm>
          <a:prstGeom prst="rect">
            <a:avLst/>
          </a:prstGeom>
          <a:solidFill>
            <a:srgbClr val="6A8C6A"/>
          </a:solidFill>
          <a:ln w="12700">
            <a:solidFill>
              <a:srgbClr val="6A8C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2112264"/>
            <a:ext cx="457200" cy="457200"/>
          </a:xfrm>
          <a:prstGeom prst="ellipse">
            <a:avLst/>
          </a:prstGeom>
          <a:solidFill>
            <a:srgbClr val="6A8C6A">
              <a:alpha val="82000"/>
            </a:srgbClr>
          </a:solidFill>
          <a:ln w="19050">
            <a:solidFill>
              <a:srgbClr val="6A8C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2688" y="2011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con otro usuario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32688" y="23134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encrypt_for_recipients([alice_pub, bob_pub]) — genera contenedor SDDH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55664" y="2011680"/>
            <a:ext cx="0" cy="731520"/>
          </a:xfrm>
          <a:prstGeom prst="line">
            <a:avLst/>
          </a:prstGeom>
          <a:noFill/>
          <a:ln w="12700">
            <a:solidFill>
              <a:srgbClr val="3831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28816" y="213055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6A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Alice y Bob como destinatarios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889504"/>
            <a:ext cx="8631936" cy="841248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889504"/>
            <a:ext cx="54864" cy="841248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054096"/>
            <a:ext cx="457200" cy="457200"/>
          </a:xfrm>
          <a:prstGeom prst="ellipse">
            <a:avLst/>
          </a:prstGeom>
          <a:solidFill>
            <a:srgbClr val="C49A3C">
              <a:alpha val="82000"/>
            </a:srgbClr>
          </a:solidFill>
          <a:ln w="19050">
            <a:solidFill>
              <a:srgbClr val="C49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32688" y="29535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Descifrar como usuario autorizado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32688" y="325526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decrypt_for_recipient(container, alice_priv) — Alice descifra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55664" y="2953512"/>
            <a:ext cx="0" cy="731520"/>
          </a:xfrm>
          <a:prstGeom prst="line">
            <a:avLst/>
          </a:prstGeom>
          <a:noFill/>
          <a:ln w="12700">
            <a:solidFill>
              <a:srgbClr val="3831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30723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Alice descifra  |  OK  Bob descifra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831336"/>
            <a:ext cx="8631936" cy="841248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831336"/>
            <a:ext cx="54864" cy="841248"/>
          </a:xfrm>
          <a:prstGeom prst="rect">
            <a:avLst/>
          </a:prstGeom>
          <a:solidFill>
            <a:srgbClr val="9C5040"/>
          </a:solidFill>
          <a:ln w="12700">
            <a:solidFill>
              <a:srgbClr val="9C5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" y="3995928"/>
            <a:ext cx="457200" cy="457200"/>
          </a:xfrm>
          <a:prstGeom prst="ellipse">
            <a:avLst/>
          </a:prstGeom>
          <a:solidFill>
            <a:srgbClr val="9C5040">
              <a:alpha val="82000"/>
            </a:srgbClr>
          </a:solidFill>
          <a:ln w="19050">
            <a:solidFill>
              <a:srgbClr val="9C5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32688" y="38953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Fallo: no autorizado y tamper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32688" y="419709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 intenta descifrar  |  se modifica 1 byte del ciphertext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55664" y="3895344"/>
            <a:ext cx="0" cy="731520"/>
          </a:xfrm>
          <a:prstGeom prst="line">
            <a:avLst/>
          </a:prstGeom>
          <a:noFill/>
          <a:ln w="12700">
            <a:solidFill>
              <a:srgbClr val="3831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28816" y="4014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9C5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 InvalidTag en ambos casos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56032" y="4791456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Ejecutar:   python demo.py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41210"/>
          </a:solidFill>
          <a:ln w="6350">
            <a:solidFill>
              <a:srgbClr val="3831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49377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SDDV  ·  Criptografia  ·  UNAM 2026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0" y="4937760"/>
            <a:ext cx="4315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Barrios  ·  Contreras  ·  Martinez  ·  Caballero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914400"/>
            <a:ext cx="5943600" cy="5943600"/>
          </a:xfrm>
          <a:prstGeom prst="ellipse">
            <a:avLst/>
          </a:prstGeom>
          <a:solidFill>
            <a:srgbClr val="B87038">
              <a:alpha val="7000"/>
            </a:srgbClr>
          </a:solidFill>
          <a:ln w="12700">
            <a:solidFill>
              <a:srgbClr val="B87038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7A5E22"/>
          </a:solidFill>
          <a:ln w="12700">
            <a:solidFill>
              <a:srgbClr val="7A5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2286000" y="1572768"/>
            <a:ext cx="4572000" cy="0"/>
          </a:xfrm>
          <a:prstGeom prst="line">
            <a:avLst/>
          </a:prstGeom>
          <a:noFill/>
          <a:ln w="15240">
            <a:solidFill>
              <a:srgbClr val="C49A3C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Boveda Digital Segura de Documentos  |  SDDV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57984"/>
            <a:ext cx="1938528" cy="182880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57984"/>
            <a:ext cx="54864" cy="1828800"/>
          </a:xfrm>
          <a:prstGeom prst="rect">
            <a:avLst/>
          </a:prstGeom>
          <a:solidFill>
            <a:srgbClr val="5A8070"/>
          </a:solidFill>
          <a:ln w="12700">
            <a:solidFill>
              <a:srgbClr val="5A80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25296" y="2286000"/>
            <a:ext cx="365760" cy="365760"/>
          </a:xfrm>
          <a:prstGeom prst="rect">
            <a:avLst/>
          </a:prstGeom>
          <a:solidFill>
            <a:srgbClr val="5A8070">
              <a:alpha val="80000"/>
            </a:srgbClr>
          </a:solidFill>
          <a:ln w="19050">
            <a:solidFill>
              <a:srgbClr val="5A8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AEAD  AES-256-GCM + ChaCha20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3101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 e integridad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23744" y="2157984"/>
            <a:ext cx="1938528" cy="182880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23744" y="2157984"/>
            <a:ext cx="54864" cy="1828800"/>
          </a:xfrm>
          <a:prstGeom prst="rect">
            <a:avLst/>
          </a:prstGeom>
          <a:solidFill>
            <a:srgbClr val="C49A3C"/>
          </a:solidFill>
          <a:ln w="12700">
            <a:solidFill>
              <a:srgbClr val="C49A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2286000"/>
            <a:ext cx="365760" cy="365760"/>
          </a:xfrm>
          <a:prstGeom prst="rect">
            <a:avLst/>
          </a:prstGeom>
          <a:solidFill>
            <a:srgbClr val="C49A3C">
              <a:alpha val="80000"/>
            </a:srgbClr>
          </a:solidFill>
          <a:ln w="19050">
            <a:solidFill>
              <a:srgbClr val="C49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33472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+ Encrypt-then-Sign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33472" y="33101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Autenticidad del emisor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90288" y="2157984"/>
            <a:ext cx="1938528" cy="182880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0288" y="2157984"/>
            <a:ext cx="54864" cy="1828800"/>
          </a:xfrm>
          <a:prstGeom prst="rect">
            <a:avLst/>
          </a:prstGeom>
          <a:solidFill>
            <a:srgbClr val="B87038"/>
          </a:solidFill>
          <a:ln w="12700">
            <a:solidFill>
              <a:srgbClr val="B870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58384" y="2286000"/>
            <a:ext cx="365760" cy="365760"/>
          </a:xfrm>
          <a:prstGeom prst="rect">
            <a:avLst/>
          </a:prstGeom>
          <a:solidFill>
            <a:srgbClr val="B87038">
              <a:alpha val="80000"/>
            </a:srgbClr>
          </a:solidFill>
          <a:ln w="19050">
            <a:solidFill>
              <a:srgbClr val="B870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8384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0016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B87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KEM+DEM  X25519 + HKDF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0016" y="33101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hibrido multi-dest.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56832" y="2157984"/>
            <a:ext cx="1938528" cy="1828800"/>
          </a:xfrm>
          <a:prstGeom prst="rect">
            <a:avLst/>
          </a:prstGeom>
          <a:solidFill>
            <a:srgbClr val="252018"/>
          </a:solidFill>
          <a:ln w="12700">
            <a:solidFill>
              <a:srgbClr val="38312A"/>
            </a:solidFill>
            <a:prstDash val="solid"/>
          </a:ln>
          <a:effectLst>
            <a:outerShdw sx="100000" sy="100000" kx="0" ky="0" algn="bl" rotWithShape="0" blurRad="101600" dist="38100" dir="84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56832" y="2157984"/>
            <a:ext cx="54864" cy="1828800"/>
          </a:xfrm>
          <a:prstGeom prst="rect">
            <a:avLst/>
          </a:prstGeom>
          <a:solidFill>
            <a:srgbClr val="6A8C6A"/>
          </a:solidFill>
          <a:ln w="12700">
            <a:solidFill>
              <a:srgbClr val="6A8C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24928" y="2286000"/>
            <a:ext cx="365760" cy="365760"/>
          </a:xfrm>
          <a:prstGeom prst="rect">
            <a:avLst/>
          </a:prstGeom>
          <a:solidFill>
            <a:srgbClr val="6A8C6A">
              <a:alpha val="80000"/>
            </a:srgbClr>
          </a:solidFill>
          <a:ln w="19050">
            <a:solidFill>
              <a:srgbClr val="6A8C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2492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6A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tests  |  0 fallos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33101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 lineas  |  4 modulos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4400" y="4206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Rocio Aldeco Perez  |  Criptografia  |  UNAM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SDDV – Bóveda Digital Segura de Documentos</dc:title>
  <dc:subject>PptxGenJS Presentation</dc:subject>
  <dc:creator>PptxGenJS</dc:creator>
  <cp:lastModifiedBy>PptxGenJS</cp:lastModifiedBy>
  <cp:revision>1</cp:revision>
  <dcterms:created xsi:type="dcterms:W3CDTF">2026-04-07T15:25:03Z</dcterms:created>
  <dcterms:modified xsi:type="dcterms:W3CDTF">2026-04-07T15:25:03Z</dcterms:modified>
</cp:coreProperties>
</file>