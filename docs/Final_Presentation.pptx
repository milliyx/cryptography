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8EEF2"/>
                </a:solidFill>
                <a:latin typeface="Helvetica Neue"/>
              </a:rPr>
              <a:t>Secure Digital Document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00E5A8"/>
                </a:solidFill>
                <a:latin typeface="Helvetica Neue"/>
              </a:rPr>
              <a:t>Final Presentation · Equipo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96A3"/>
                </a:solidFill>
                <a:latin typeface="Helvetica Neue"/>
              </a:rPr>
              <a:t>Barrios Aguilar · Caballero Martínez · Contreras Colmenero · Martínez López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6A3"/>
                </a:solidFill>
                <a:latin typeface="Helvetica Neue"/>
              </a:rPr>
              <a:t>Criptografía · Dra. Rocío Aldeco Pérez · UNAM 2026-2 ·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70835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B96A3"/>
                </a:solidFill>
                <a:latin typeface="Helvetica Neue"/>
              </a:rPr>
              <a:t>Sección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E5A8"/>
                </a:solidFill>
                <a:latin typeface="Helvetica Neue"/>
              </a:rPr>
              <a:t>System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06253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El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1 · 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3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8EEF2"/>
                </a:solidFill>
                <a:latin typeface="Helvetica Neue"/>
              </a:rPr>
              <a:t>Hoy enviamos archivos sensibles</a:t>
            </a:r>
          </a:p>
          <a:p>
            <a:pPr algn="ctr"/>
            <a:r>
              <a:rPr sz="3600" b="1" i="0">
                <a:solidFill>
                  <a:srgbClr val="E8EEF2"/>
                </a:solidFill>
                <a:latin typeface="Helvetica Neue"/>
              </a:rPr>
              <a:t>por canales que no garantizan nada.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Helvetica Neue"/>
              </a:rPr>
              <a:t>Correo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Sin confidencialidad</a:t>
            </a:r>
          </a:p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ni autenticidad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84048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51959" y="4069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Helvetica Neue"/>
              </a:rPr>
              <a:t>Drive / Dropbox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47091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El proveedor puede</a:t>
            </a:r>
          </a:p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leer los archivos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048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79" y="4069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Helvetica Neue"/>
              </a:rPr>
              <a:t>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7091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Cifrado limitado, sin firma</a:t>
            </a:r>
          </a:p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verificable por terceros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741670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Nuestra propuesta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1 · 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4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E8EEF2"/>
                </a:solidFill>
                <a:latin typeface="Helvetica Neue"/>
              </a:rPr>
              <a:t>La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0E5A8"/>
                </a:solidFill>
                <a:latin typeface="Helvetica Neue"/>
              </a:rPr>
              <a:t>no se confía,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E8EEF2"/>
                </a:solidFill>
                <a:latin typeface="Helvetica Neue"/>
              </a:rPr>
              <a:t>se demuestra.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8B96A3"/>
                </a:solidFill>
                <a:latin typeface="Helvetica Neue"/>
              </a:rPr>
              <a:t>Con criptografía formal, no con promesas.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77088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¿Qué construimos?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1 · 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5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0E5A8"/>
                </a:solidFill>
                <a:latin typeface="Helvetica Neue"/>
              </a:rPr>
              <a:t>SDDV — Secure Digital Document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8B96A3"/>
                </a:solidFill>
                <a:latin typeface="Helvetica Neue"/>
              </a:rPr>
              <a:t>CLI en Python para almacenar y compartir archivos de forma segura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92608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00E5A8"/>
                </a:solidFill>
                <a:latin typeface="Helvetica Neue"/>
              </a:rPr>
              <a:t>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6A3"/>
                </a:solidFill>
                <a:latin typeface="Helvetica Neue"/>
              </a:rPr>
              <a:t>tests verdes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92608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46320" y="32918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00E5A8"/>
                </a:solidFill>
                <a:latin typeface="Helvetica Neue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6A3"/>
                </a:solidFill>
                <a:latin typeface="Helvetica Neue"/>
              </a:rPr>
              <a:t>commits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92608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0" y="32918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00E5A8"/>
                </a:solidFill>
                <a:latin typeface="Helvetica Neue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6A3"/>
                </a:solidFill>
                <a:latin typeface="Helvetica Neue"/>
              </a:rPr>
              <a:t>vulns resueltas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48640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1419"/>
                </a:solidFill>
                <a:latin typeface="Helvetica Neue"/>
              </a:rPr>
              <a:t>D2 · AEAD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0088" y="5486400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1419"/>
                </a:solidFill>
                <a:latin typeface="Helvetica Neue"/>
              </a:rPr>
              <a:t>D3 · Híbrido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5486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1419"/>
                </a:solidFill>
                <a:latin typeface="Helvetica Neue"/>
              </a:rPr>
              <a:t>D5 · Firma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5272" y="548640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1419"/>
                </a:solidFill>
                <a:latin typeface="Helvetica Neue"/>
              </a:rPr>
              <a:t>D6 · Keystore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612506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Arquitectura por capas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1 · 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6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371600"/>
            <a:ext cx="7589520" cy="502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468880" y="137160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Helvetica Neue"/>
              </a:rPr>
              <a:t>Aplicación · CLI python -m crypto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057400"/>
            <a:ext cx="7589520" cy="502920"/>
          </a:xfrm>
          <a:prstGeom prst="roundRect">
            <a:avLst>
              <a:gd name="adj" fmla="val 8000"/>
            </a:avLst>
          </a:prstGeom>
          <a:solidFill>
            <a:srgbClr val="232B36"/>
          </a:solidFill>
          <a:ln w="1905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12680" y="20574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00E5A8"/>
                </a:solidFill>
                <a:latin typeface="Helvetica Neue"/>
              </a:rPr>
              <a:t>confiable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05740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Helvetica Neue"/>
              </a:rPr>
              <a:t>Composición · secure_send.py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2743200"/>
            <a:ext cx="7589520" cy="502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468880" y="274320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Helvetica Neue"/>
              </a:rPr>
              <a:t>Firma · Ed25519 sobre SDDH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429000"/>
            <a:ext cx="7589520" cy="502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68880" y="342900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Helvetica Neue"/>
              </a:rPr>
              <a:t>Híbrido · X25519 KEM + AEAD DEM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114800"/>
            <a:ext cx="7589520" cy="502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468880" y="411480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8EEF2"/>
                </a:solidFill>
                <a:latin typeface="Helvetica Neue"/>
              </a:rPr>
              <a:t>Simétrico · AES-256-GCM / ChaCha20-Poly1305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800600"/>
            <a:ext cx="7589520" cy="502920"/>
          </a:xfrm>
          <a:prstGeom prst="roundRect">
            <a:avLst>
              <a:gd name="adj" fmla="val 8000"/>
            </a:avLst>
          </a:prstGeom>
          <a:solidFill>
            <a:srgbClr val="232B36"/>
          </a:solidFill>
          <a:ln w="1905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12680" y="48006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00E5A8"/>
                </a:solidFill>
                <a:latin typeface="Helvetica Neue"/>
              </a:rPr>
              <a:t>confiable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0060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Helvetica Neue"/>
              </a:rPr>
              <a:t>Llaves · scrypt + AES-GCM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F6B6B"/>
                </a:solidFill>
                <a:latin typeface="Helvetica Neue"/>
              </a:rPr>
              <a:t>Almacenamiento, red y contenedores cifrados se consideran no confiables.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B96A3"/>
                </a:solidFill>
                <a:latin typeface="Helvetica Neue"/>
              </a:rPr>
              <a:t>Sección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E5A8"/>
                </a:solidFill>
                <a:latin typeface="Helvetica Neue"/>
              </a:rPr>
              <a:t>Threat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83341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Activos a proteger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2 · Threat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8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E5A8"/>
                </a:solidFill>
                <a:latin typeface="Helvetica Neue"/>
              </a:rPr>
              <a:t>Contenido del archivo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Información sensible → AEAD (D2)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E5A8"/>
                </a:solidFill>
                <a:latin typeface="Helvetica Neue"/>
              </a:rPr>
              <a:t>Metadatos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Filename, timestamp → AAD del DEM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834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E5A8"/>
                </a:solidFill>
                <a:latin typeface="Helvetica Neue"/>
              </a:rPr>
              <a:t>Llaves privadas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918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Ed25519 + X25519 → scrypt + AES-GCM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2834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E5A8"/>
                </a:solidFill>
                <a:latin typeface="Helvetica Neue"/>
              </a:rPr>
              <a:t>Passwords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Solo en memoria · longitud mín. 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251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E5A8"/>
                </a:solidFill>
                <a:latin typeface="Helvetica Neue"/>
              </a:rPr>
              <a:t>Firmas digitales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No-repudio → Ed25519 (RFC 8032)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4251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E5A8"/>
                </a:solidFill>
                <a:latin typeface="Helvetica Neue"/>
              </a:rPr>
              <a:t>Nonces AEAD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7091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Reuso = catastrófico → CSPRNG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918759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Adversarios considerados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2 · Threat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9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68680" y="1463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Helvetica Neue"/>
              </a:rPr>
              <a:t>ADV-1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EEF2"/>
                </a:solidFill>
                <a:latin typeface="Helvetica Neue"/>
              </a:rPr>
              <a:t>Externo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Lee y modifica contenedores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446520" y="1463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Helvetica Neue"/>
              </a:rPr>
              <a:t>ADV-2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EEF2"/>
                </a:solidFill>
                <a:latin typeface="Helvetica Neue"/>
              </a:rPr>
              <a:t>Destinatario malicioso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Lee su archivo legítimamente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97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68680" y="28803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Helvetica Neue"/>
              </a:rPr>
              <a:t>ADV-3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880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EEF2"/>
                </a:solidFill>
                <a:latin typeface="Helvetica Neue"/>
              </a:rPr>
              <a:t>Man-in-the-Middle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83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Sustituye pubkeys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97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46520" y="28803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Helvetica Neue"/>
              </a:rPr>
              <a:t>ADV-4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880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EEF2"/>
                </a:solidFill>
                <a:latin typeface="Helvetica Neue"/>
              </a:rPr>
              <a:t>Acceso físico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83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Copia el keystore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148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68680" y="42976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Helvetica Neue"/>
              </a:rPr>
              <a:t>ADV-5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297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EEF2"/>
                </a:solidFill>
                <a:latin typeface="Helvetica Neue"/>
              </a:rPr>
              <a:t>Fuerza bruta offline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00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EF2"/>
                </a:solidFill>
                <a:latin typeface="Helvetica Neue"/>
              </a:rPr>
              <a:t>Prueba passwords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446520" y="42976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Helvetica Neue"/>
              </a:rPr>
              <a:t>ADV-6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297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8EEF2"/>
                </a:solidFill>
                <a:latin typeface="Helvetica Neue"/>
              </a:rPr>
              <a:t>Dispositivo comprometido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00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Helvetica Neue"/>
              </a:rPr>
              <a:t>Keylogger, RAM dump · fuera de scope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54176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Asunciones explícitas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2 · Threat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10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E8EEF2"/>
                </a:solidFill>
                <a:latin typeface="Helvetica Neue"/>
              </a:rPr>
              <a:t>Lo que SDDV asume</a:t>
            </a:r>
          </a:p>
          <a:p>
            <a:pPr algn="ctr"/>
            <a:r>
              <a:rPr sz="4000" b="1" i="0">
                <a:solidFill>
                  <a:srgbClr val="E8EEF2"/>
                </a:solidFill>
                <a:latin typeface="Helvetica Neue"/>
              </a:rPr>
              <a:t>del entorno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Helvetica Neue"/>
              </a:rPr>
              <a:t>● CSPRNG del SO es seguro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393192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Helvetica Neue"/>
              </a:rPr>
              <a:t>● Pubkeys distribuidas auténticamente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79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983479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Helvetica Neue"/>
              </a:rPr>
              <a:t>● Usuario elige passwords fuertes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983479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4983479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Helvetica Neue"/>
              </a:rPr>
              <a:t>● Sin malware en ejecución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89594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B96A3"/>
                </a:solidFill>
                <a:latin typeface="Helvetica Neue"/>
              </a:rPr>
              <a:t>Sección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E5A8"/>
                </a:solidFill>
                <a:latin typeface="Helvetica Neue"/>
              </a:rPr>
              <a:t>Cryptographic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225012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Selección del algoritmo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D2 — AEAD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12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905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E5A8"/>
                </a:solidFill>
                <a:latin typeface="Helvetica Neue"/>
              </a:rPr>
              <a:t>AES-256-GCM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6A3"/>
                </a:solidFill>
                <a:latin typeface="Helvetica Neue"/>
              </a:rPr>
              <a:t>Default · NIST SP 800-38D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Acelerado por hardware (AES-NI)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Estándar de la industria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TLS 1.3, IPsec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905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C8EFF"/>
                </a:solidFill>
                <a:latin typeface="Helvetica Neue"/>
              </a:rPr>
              <a:t>ChaCha20-Poly1305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6A3"/>
                </a:solidFill>
                <a:latin typeface="Helvetica Neue"/>
              </a:rPr>
              <a:t>RFC 7539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Sin instrucciones AES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Constant-time por diseño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Ideal para móviles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75488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6B6B"/>
                </a:solidFill>
                <a:latin typeface="Helvetica Neue"/>
              </a:rPr>
              <a:t>¿Por qué AEAD y no «encrypt + MAC»?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94960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Un solo mecanismo garantiza confidencialidad e integridad. Diseñar a mano es donde surgen POODLE, Lucky13, BEAST.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660429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El AAD no es opcional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D2 — AEAD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13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280160"/>
            <a:ext cx="7589520" cy="3383280"/>
          </a:xfrm>
          <a:prstGeom prst="roundRect">
            <a:avLst>
              <a:gd name="adj" fmla="val 8000"/>
            </a:avLst>
          </a:prstGeom>
          <a:solidFill>
            <a:srgbClr val="232B36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468880" y="1463040"/>
            <a:ext cx="72237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┌─────────────────────────────────────────────┐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│ MAGIC(4) "SDDV"                             │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│ VERSION(1) = 1                              │   ← Cabecera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│ ALGO_ID(1)                                  │     completa pasa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│ TIMESTAMP(8)                                │     como AAD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│ FNAME_LEN(2) · FILENAME                     │     al DEM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├─────────────────────────────────────────────┤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│ NONCE(12) · CT_LEN(4) · CIPHERTEXT          │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│ TAG(16)                                     │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└─────────────────────────────────────────────┘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029200"/>
            <a:ext cx="94183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E5A8"/>
                </a:solidFill>
                <a:latin typeface="Helvetica Neue"/>
              </a:rPr>
              <a:t>Propiedad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577840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Modificar 1 bit del filename, timestamp o algoritmo → InvalidTag al descifrar.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Estrategia de nonce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D2 — AEAD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14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0" b="1" i="0">
                <a:solidFill>
                  <a:srgbClr val="00E5A8"/>
                </a:solidFill>
                <a:latin typeface="Helvetica Neue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8B96A3"/>
                </a:solidFill>
                <a:latin typeface="Helvetica Neue"/>
              </a:rPr>
              <a:t>bits aleatorios · CSPRNG · fresco por archivo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029200"/>
            <a:ext cx="7589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286000" y="516636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6B6B"/>
                </a:solidFill>
                <a:latin typeface="Helvetica Neue"/>
              </a:rPr>
              <a:t>Nonce reuse en GCM es CATASTRÓFICO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577840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8EEF2"/>
                </a:solidFill>
                <a:latin typeface="Helvetica Neue"/>
              </a:rPr>
              <a:t>Expone la authentication key. Cada archivo usa clave fresca → el límite es por-clave, no global.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31265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KEM + DEM en una línea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D3 — Cifrado Híbrido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15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E8EEF2"/>
                </a:solidFill>
                <a:latin typeface="Helvetica Neue"/>
              </a:rPr>
              <a:t>Una llave efímera por destinatario.</a:t>
            </a:r>
          </a:p>
          <a:p>
            <a:pPr algn="ctr"/>
            <a:r>
              <a:rPr sz="3000" b="1" i="0">
                <a:solidFill>
                  <a:srgbClr val="E8EEF2"/>
                </a:solidFill>
                <a:latin typeface="Helvetica Neue"/>
              </a:rPr>
              <a:t>Un archivo cifrado una vez.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9418320" cy="24688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554480" y="3794760"/>
            <a:ext cx="905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Helvetica Neue"/>
              </a:rPr>
              <a:t>KEM (Key Encapsulation) — X25519 ECDH: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160520"/>
            <a:ext cx="8869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• Genera file_key aleatoria de 256 bits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• Por cada destinatario: par X25519 efímero → ECDH → HKDF → wrap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074920"/>
            <a:ext cx="905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Helvetica Neue"/>
              </a:rPr>
              <a:t>DEM (Data Encapsulation) — AES-256-GCM o ChaCha20: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44068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• Cifra el archivo una sola vez con file_key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66682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Forward secrecy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D3 — Cifrado Híbrido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16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8EEF2"/>
                </a:solidFill>
                <a:latin typeface="Helvetica Neue"/>
              </a:rPr>
              <a:t>Las llaves efímeras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0E5A8"/>
                </a:solidFill>
                <a:latin typeface="Helvetica Neue"/>
              </a:rPr>
              <a:t>se destruyen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8EEF2"/>
                </a:solidFill>
                <a:latin typeface="Helvetica Neue"/>
              </a:rPr>
              <a:t>tras el wrap.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937760"/>
            <a:ext cx="7589520" cy="12801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68880" y="5074920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EEF2"/>
                </a:solidFill>
                <a:latin typeface="Helvetica Neue"/>
              </a:rPr>
              <a:t>Si en el futuro se filtra una recipient_priv, los mensajes pasados quedan protegidos porque las efímeras ya no existen.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402100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Contenedor SDDH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D3 — Cifrado Híbrido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17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280160"/>
            <a:ext cx="10332720" cy="3291840"/>
          </a:xfrm>
          <a:prstGeom prst="roundRect">
            <a:avLst>
              <a:gd name="adj" fmla="val 8000"/>
            </a:avLst>
          </a:prstGeom>
          <a:solidFill>
            <a:srgbClr val="2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88720" y="1417320"/>
            <a:ext cx="9784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MAGIC(4) "SDDH" · VERSION · ALGO · TIMESTAMP(8)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FNAME_LEN(2) · FILENAME · RCPT_COUNT(2)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/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╔═ Por cada destinatario (124 B) ═══════════════════════╗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║  FINGERPRINT(32)  SHA-256(raw X25519 pubkey)          ║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║  EPH_PUB(32)      clave efímera                       ║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║  WRAP_NONCE(12)   nonce del wrap                      ║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║  WRAPPED_KEY(48)  file_key cifrada (32 ct + 16 tag)   ║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╚═══════════════════════════════════════════════════════╝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                                  ← fin del AAD del DEM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NONCE(12) · CT_LEN(4) · CIPHERTEXT · TAG(16)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920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0E5A8"/>
                </a:solidFill>
                <a:latin typeface="Helvetica Neue"/>
              </a:rPr>
              <a:t>Identidad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8EEF2"/>
                </a:solidFill>
                <a:latin typeface="Helvetica Neue"/>
              </a:rPr>
              <a:t>SHA-256(raw X25519 pubkey) — 32 B</a:t>
            </a:r>
          </a:p>
          <a:p>
            <a:pPr algn="ctr"/>
            <a:r>
              <a:rPr sz="1100" b="0" i="0">
                <a:solidFill>
                  <a:srgbClr val="E8EEF2"/>
                </a:solidFill>
                <a:latin typeface="Helvetica Neue"/>
              </a:rPr>
              <a:t>Sin PKI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02920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17920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0E5A8"/>
                </a:solidFill>
                <a:latin typeface="Helvetica Neue"/>
              </a:rPr>
              <a:t>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623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8EEF2"/>
                </a:solidFill>
                <a:latin typeface="Helvetica Neue"/>
              </a:rPr>
              <a:t>MAX_RECIPIENTS = 1024</a:t>
            </a:r>
          </a:p>
          <a:p>
            <a:pPr algn="ctr"/>
            <a:r>
              <a:rPr sz="1100" b="0" i="0">
                <a:solidFill>
                  <a:srgbClr val="E8EEF2"/>
                </a:solidFill>
                <a:latin typeface="Helvetica Neue"/>
              </a:rPr>
              <a:t>Mitigación CWE-770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837518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¿Por qué Ed25519?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D5 —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18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905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Propiedades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Curve25519 · 128 bits de 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Llaves de 32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Firma de 64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✓  Constant-time por diseño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905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C8EFF"/>
                </a:solidFill>
                <a:latin typeface="Helvetica Neue"/>
              </a:rPr>
              <a:t>Determinismo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No requiere CSPRNG en cada firma.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Inmune al ataque PS3 (Sony 2010):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reuso de nonce en ECDSA expuso la llave.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84632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2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71600" y="49834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00E5A8"/>
                </a:solidFill>
                <a:latin typeface="Menlo"/>
              </a:rPr>
              <a:t>SIGN_MAGIC(4) + SIGNER_FP(32) + SIGNATURE(64) = 100 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72935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Verify-first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D5 —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19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  <a:latin typeface="Helvetica Neue"/>
              </a:rPr>
              <a:t>Patrón ingenuo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0E5A8"/>
                </a:solidFill>
                <a:latin typeface="Helvetica Neue"/>
              </a:rPr>
              <a:t>API SDDV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E8EEF2"/>
                </a:solidFill>
                <a:latin typeface="Helvetica Neue"/>
              </a:rPr>
              <a:t>decrypt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8EEF2"/>
                </a:solidFill>
                <a:latin typeface="Helvetica Neue"/>
              </a:rPr>
              <a:t>verify → decrypt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E8EEF2"/>
                </a:solidFill>
                <a:latin typeface="Helvetica Neue"/>
              </a:rPr>
              <a:t>expone plaintext si firma falla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8EEF2"/>
                </a:solidFill>
                <a:latin typeface="Helvetica Neue"/>
              </a:rPr>
              <a:t>no toca el descifrado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E8EEF2"/>
                </a:solidFill>
                <a:latin typeface="Helvetica Neue"/>
              </a:rPr>
              <a:t>posible timing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8EEF2"/>
                </a:solidFill>
                <a:latin typeface="Helvetica Neue"/>
              </a:rPr>
              <a:t>tiempo uniforme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84048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2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54480" y="3977639"/>
            <a:ext cx="9052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def secure_verify_and_decrypt(signed_container, expected_signer_pub,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                              recipient_priv, max_age_seconds):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    container = verify_hybrid_container(    # ① VERIFY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        signed_container, expected_signer_pub)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                                            #   InvalidSignature → STOP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    return decrypt_for_recipient(           # ② DECRYPT (solo si verify OK)</a:t>
            </a:r>
          </a:p>
          <a:p>
            <a:pPr algn="l"/>
            <a:r>
              <a:rPr sz="1000" b="0" i="0">
                <a:solidFill>
                  <a:srgbClr val="E8EEF2"/>
                </a:solidFill>
                <a:latin typeface="Menlo"/>
              </a:rPr>
              <a:t>        container, recipient_priv, max_age_seconds)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708353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Binding de identidad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D5 —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20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8EEF2"/>
                </a:solidFill>
                <a:latin typeface="Helvetica Neue"/>
              </a:rPr>
              <a:t>El fingerprint del firmante</a:t>
            </a:r>
          </a:p>
          <a:p>
            <a:pPr algn="ctr"/>
            <a:r>
              <a:rPr sz="3600" b="1" i="0">
                <a:solidFill>
                  <a:srgbClr val="E8EEF2"/>
                </a:solidFill>
                <a:latin typeface="Helvetica Neue"/>
              </a:rPr>
              <a:t>está dentro de lo firmado.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114800"/>
            <a:ext cx="8503920" cy="18288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28800" y="429768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8EEF2"/>
                </a:solidFill>
                <a:latin typeface="Helvetica Neue"/>
              </a:rPr>
              <a:t>Un atacante no puede sustituir el firmante por 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5488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8EEF2"/>
                </a:solidFill>
                <a:latin typeface="Helvetica Neue"/>
              </a:rPr>
              <a:t>manteniendo la firma de Alice.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4924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0E5A8"/>
                </a:solidFill>
                <a:latin typeface="Menlo"/>
              </a:rPr>
              <a:t>SIGNATURE = Ed25519(SDDH || "SIGS" || SIGNER_FP)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Protección de llaves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D6 — Key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21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E8EEF2"/>
                </a:solidFill>
                <a:latin typeface="Helvetica Neue"/>
              </a:rPr>
              <a:t>scrypt + AES-256-GCM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E5A8"/>
                </a:solidFill>
                <a:latin typeface="Helvetica Neue"/>
              </a:rPr>
              <a:t>KDF — scrypt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6A3"/>
                </a:solidFill>
                <a:latin typeface="Helvetica Neue"/>
              </a:rPr>
              <a:t>Memory-hard → penaliza GPU/ASIC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Menlo"/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Menlo"/>
              </a:rPr>
              <a:t>2^15 = 32 768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Menlo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Menlo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Menlo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389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Menlo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Menlo"/>
              </a:rPr>
              <a:t>dklen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846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Menlo"/>
              </a:rPr>
              <a:t>32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E5A8"/>
                </a:solidFill>
                <a:latin typeface="Menlo"/>
              </a:rPr>
              <a:t>salt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EF2"/>
                </a:solidFill>
                <a:latin typeface="Menlo"/>
              </a:rPr>
              <a:t>16 B CSPRNG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10312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E5A8"/>
                </a:solidFill>
                <a:latin typeface="Helvetica Neue"/>
              </a:rPr>
              <a:t>Costo deliberado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1089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E8EEF2"/>
                </a:solidFill>
                <a:latin typeface="Helvetica Neue"/>
              </a:rPr>
              <a:t>150 ms  y  80 MiB 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947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6A3"/>
                </a:solidFill>
                <a:latin typeface="Helvetica Neue"/>
              </a:rPr>
              <a:t>por intento en laptop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572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B96A3"/>
                </a:solidFill>
                <a:latin typeface="Helvetica Neue"/>
              </a:rPr>
              <a:t>Con password de 50 bits + 1000 GPUs: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02920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0E5A8"/>
                </a:solidFill>
                <a:latin typeface="Helvetica Neue"/>
              </a:rPr>
              <a:t>≈ 2 700 años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79188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Keystore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D6 — Key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22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280160"/>
            <a:ext cx="10332720" cy="4937760"/>
          </a:xfrm>
          <a:prstGeom prst="roundRect">
            <a:avLst>
              <a:gd name="adj" fmla="val 8000"/>
            </a:avLst>
          </a:prstGeom>
          <a:solidFill>
            <a:srgbClr val="2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96012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{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"version": 1, "name": "alice", "status": "active",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"kdf": {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  "algorithm": "scrypt", "salt_b64": "...",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  "n": 32768, "r": 8, "p": 1, "dklen": 32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},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"encryption": {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  "algorithm": "AES-256-GCM",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  "nonce_b64": "...", "tag_b64": "..."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},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"encrypted_private_key": "...",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"public_keys":  {"ed25519_pub_b64": "...", "x25519_pub_b64": "..."},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"fingerprints": {"ed25519": "...", "x25519": "..."},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  "metadata":     {"expires_at": null, "rotated_from": null}</a:t>
            </a:r>
          </a:p>
          <a:p>
            <a:pPr algn="l"/>
            <a:r>
              <a:rPr sz="1200" b="0" i="0">
                <a:solidFill>
                  <a:srgbClr val="E8EEF2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014606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Ciclo de 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3 · D6 — Key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23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19456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init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19456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unlock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change-pwd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9456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0" y="21945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rotate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2918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329183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revoke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2918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49039" y="329183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delete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7920" y="329183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backup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291839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0" y="329183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8EEF2"/>
                </a:solidFill>
                <a:latin typeface="Menlo"/>
              </a:rPr>
              <a:t>restore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029200"/>
            <a:ext cx="94183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71600" y="516636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E5A8"/>
                </a:solidFill>
                <a:latin typeface="Helvetica Neue"/>
              </a:rPr>
              <a:t>Política de no-caching: cada unlock re-deriva con scrypt.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23560"/>
            <a:ext cx="905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8EEF2"/>
                </a:solidFill>
                <a:latin typeface="Helvetica Neue"/>
              </a:rPr>
              <a:t>La llave privada vive solo en el frame del caller.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450024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B96A3"/>
                </a:solidFill>
                <a:latin typeface="Helvetica Neue"/>
              </a:rPr>
              <a:t>Sección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E5A8"/>
                </a:solidFill>
                <a:latin typeface="Helvetica Neue"/>
              </a:rPr>
              <a:t>Secure Practices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885441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Las 4 prácticas que aplicamos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4 · Secure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25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E5A8"/>
                </a:solidFill>
                <a:latin typeface="Helvetica Neue"/>
              </a:rPr>
              <a:t>Input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validate_filename (CWE-22)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validate_timestamp (CWE-294)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ciphertext_length 100 MiB (CWE-770)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MAX_RECIPIENTS = 1024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E5A8"/>
                </a:solidFill>
                <a:latin typeface="Helvetica Neue"/>
              </a:rPr>
              <a:t>Fail-closed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Verify antes de decrypt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unlock bloquea si revoked/expired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43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AEAD nunca devuelve plaintext si tag falla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79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02335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C8EFF"/>
                </a:solidFill>
                <a:latin typeface="Helvetica Neue"/>
              </a:rPr>
              <a:t>Canonicalization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7199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struct.pack("&gt;Q",...) big-endian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3775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JSON con separators=(",",":")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0351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posixpath.normpath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79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46520" y="402335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C8EFF"/>
                </a:solidFill>
                <a:latin typeface="Helvetica Neue"/>
              </a:rPr>
              <a:t>Error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7199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InvalidTag · InvalidSignature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93775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IdentityRevokedError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1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● Sin atrapar excepciones genéricas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320859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Lección clave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4 · Secure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26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E8EEF2"/>
                </a:solidFill>
                <a:latin typeface="Helvetica Neue"/>
              </a:rPr>
              <a:t>Si la API es difícil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E8EEF2"/>
                </a:solidFill>
                <a:latin typeface="Helvetica Neue"/>
              </a:rPr>
              <a:t>de usar mal,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0E5A8"/>
                </a:solidFill>
                <a:latin typeface="Helvetica Neue"/>
              </a:rPr>
              <a:t>los errores de implementación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8EEF2"/>
                </a:solidFill>
                <a:latin typeface="Helvetica Neue"/>
              </a:rPr>
              <a:t>se reducen drásticamente.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6A3"/>
                </a:solidFill>
                <a:latin typeface="Helvetica Neue"/>
              </a:rPr>
              <a:t>Misuse-resistant design · NaCl · libsodium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756277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B96A3"/>
                </a:solidFill>
                <a:latin typeface="Helvetica Neue"/>
              </a:rPr>
              <a:t>Sección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E5A8"/>
                </a:solidFill>
                <a:latin typeface="Helvetica Neue"/>
              </a:rPr>
              <a:t>Security Audit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Vulnerabilidades resueltas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5 · Security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28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F1419"/>
                </a:solidFill>
                <a:latin typeface="Helvetica Neue"/>
              </a:rPr>
              <a:t>VULN-001 · 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EF2"/>
                </a:solidFill>
                <a:latin typeface="Helvetica Neue"/>
              </a:rPr>
              <a:t>Path traversal en filename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6A3"/>
                </a:solidFill>
                <a:latin typeface="Helvetica Neue"/>
              </a:rPr>
              <a:t>CWE-22 · Fix: validate_filename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446520" y="141732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F1419"/>
                </a:solidFill>
                <a:latin typeface="Helvetica Neue"/>
              </a:rPr>
              <a:t>VULN-002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EF2"/>
                </a:solidFill>
                <a:latin typeface="Helvetica Neue"/>
              </a:rPr>
              <a:t>Replay sin freshness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6A3"/>
                </a:solidFill>
                <a:latin typeface="Helvetica Neue"/>
              </a:rPr>
              <a:t>CWE-294 · Fix: validate_timestamp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6888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68680" y="260604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F1419"/>
                </a:solidFill>
                <a:latin typeface="Helvetica Neue"/>
              </a:rPr>
              <a:t>VULN-003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71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EF2"/>
                </a:solidFill>
                <a:latin typeface="Helvetica Neue"/>
              </a:rPr>
              <a:t>DoS por ct_len sin tope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461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6A3"/>
                </a:solidFill>
                <a:latin typeface="Helvetica Neue"/>
              </a:rPr>
              <a:t>CWE-770 · Fix: 100 MiB cap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46888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46520" y="260604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F1419"/>
                </a:solidFill>
                <a:latin typeface="Helvetica Neue"/>
              </a:rPr>
              <a:t>VULN-004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71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EF2"/>
                </a:solidFill>
                <a:latin typeface="Helvetica Neue"/>
              </a:rPr>
              <a:t>DoS por RCPT_COUNT sin tope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461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6A3"/>
                </a:solidFill>
                <a:latin typeface="Helvetica Neue"/>
              </a:rPr>
              <a:t>CWE-770 · Fix: 1024 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5760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68680" y="379476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F1419"/>
                </a:solidFill>
                <a:latin typeface="Helvetica Neue"/>
              </a:rPr>
              <a:t>VULN-005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160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EF2"/>
                </a:solidFill>
                <a:latin typeface="Helvetica Neue"/>
              </a:rPr>
              <a:t>Type confusion SDDH→SDDV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6A3"/>
                </a:solidFill>
                <a:latin typeface="Helvetica Neue"/>
              </a:rPr>
              <a:t>Fix: detección de magic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65760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446520" y="379476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F1419"/>
                </a:solidFill>
                <a:latin typeface="Helvetica Neue"/>
              </a:rPr>
              <a:t>VULN-006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60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EF2"/>
                </a:solidFill>
                <a:latin typeface="Helvetica Neue"/>
              </a:rPr>
              <a:t>Path traversal al unpacking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34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6A3"/>
                </a:solidFill>
                <a:latin typeface="Helvetica Neue"/>
              </a:rPr>
              <a:t>CWE-22 · Fix: safe_path_join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4632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68680" y="498348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0F1419"/>
                </a:solidFill>
                <a:latin typeface="Helvetica Neue"/>
              </a:rPr>
              <a:t>VULN-007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49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EF2"/>
                </a:solidFill>
                <a:latin typeface="Helvetica Neue"/>
              </a:rPr>
              <a:t>Password débil en PKCS8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6235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6A3"/>
                </a:solidFill>
                <a:latin typeface="Helvetica Neue"/>
              </a:rPr>
              <a:t>CWE-521 · Fix: MIN_LEN=12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627112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Lo que NO protegemos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5 · Security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29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Helvetica Neue"/>
              </a:rPr>
              <a:t>✗  Dispositivo comprometido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Keylogger, RAM dump → requiere HSM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Helvetica Neue"/>
              </a:rPr>
              <a:t>✗  Distribución de pubkeys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No hay PKI; canal fuera de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Helvetica Neue"/>
              </a:rPr>
              <a:t>✗  Revocación distribuida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91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Sin CRL/OCSP; revoke local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Helvetica Neue"/>
              </a:rPr>
              <a:t>✗  Side-channel físico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Cold boot, EMI → hardware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Helvetica Neue"/>
              </a:rPr>
              <a:t>✗  Pérdida de pwd + backup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Propiedad criptográfica, no bug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4297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Helvetica Neue"/>
              </a:rPr>
              <a:t>✗  Quantum adversary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709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8EEF2"/>
                </a:solidFill>
                <a:latin typeface="Helvetica Neue"/>
              </a:rPr>
              <a:t>Roadmap: hybrid PQ (RFC 9180)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062530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B96A3"/>
                </a:solidFill>
                <a:latin typeface="Helvetica Neue"/>
              </a:rPr>
              <a:t>Sección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E5A8"/>
                </a:solidFill>
                <a:latin typeface="Helvetica Neue"/>
              </a:rPr>
              <a:t>Final Demo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497948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Lo que vamos a mostrar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6 · Final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31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630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EEF2"/>
                </a:solidFill>
                <a:latin typeface="Helvetica Neue"/>
              </a:rPr>
              <a:t>1.  Init identidades alice + bob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65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EEF2"/>
                </a:solidFill>
                <a:latin typeface="Helvetica Neue"/>
              </a:rPr>
              <a:t>2.  Alice cifra y firma para Bob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68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EEF2"/>
                </a:solidFill>
                <a:latin typeface="Helvetica Neue"/>
              </a:rPr>
              <a:t>3.  Bob verify + decrypt → plaintext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71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EEF2"/>
                </a:solidFill>
                <a:latin typeface="Helvetica Neue"/>
              </a:rPr>
              <a:t>4.  Password incorrecto → InvalidTag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74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EEF2"/>
                </a:solidFill>
                <a:latin typeface="Helvetica Neue"/>
              </a:rPr>
              <a:t>5.  Contenedor modificado → InvalidSignature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EEF2"/>
                </a:solidFill>
                <a:latin typeface="Helvetica Neue"/>
              </a:rPr>
              <a:t>6.  Rotate keys de Alice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480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EEF2"/>
                </a:solidFill>
                <a:latin typeface="Helvetica Neue"/>
              </a:rPr>
              <a:t>7.  Backup → delete → restore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5486400"/>
            <a:ext cx="5760720" cy="8229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200400" y="548640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E5A8"/>
                </a:solidFill>
                <a:latin typeface="Menlo"/>
              </a:rPr>
              <a:t>python demo_d6.py    ·    bash verificar_d6.sh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933365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Estado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6 · Final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32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1" i="0">
                <a:solidFill>
                  <a:srgbClr val="00E5A8"/>
                </a:solidFill>
                <a:latin typeface="Helvetica Neue"/>
              </a:rPr>
              <a:t>300 /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8B96A3"/>
                </a:solidFill>
                <a:latin typeface="Helvetica Neue"/>
              </a:rPr>
              <a:t>tests verdes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93776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71600" y="5120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0E5A8"/>
                </a:solidFill>
                <a:latin typeface="Helvetica Neue"/>
              </a:rPr>
              <a:t>4500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6A3"/>
                </a:solidFill>
                <a:latin typeface="Helvetica Neue"/>
              </a:rPr>
              <a:t>líneas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493776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49039" y="5120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0E5A8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760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6A3"/>
                </a:solidFill>
                <a:latin typeface="Helvetica Neue"/>
              </a:rPr>
              <a:t>docs de diseño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93776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26480" y="5120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0E5A8"/>
                </a:solidFill>
                <a:latin typeface="Helvetica Neue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760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6A3"/>
                </a:solidFill>
                <a:latin typeface="Helvetica Neue"/>
              </a:rPr>
              <a:t>vulns resueltas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937760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0E5A8"/>
                </a:solidFill>
                <a:latin typeface="Helvetica Neue"/>
              </a:rPr>
              <a:t>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760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6A3"/>
                </a:solidFill>
                <a:latin typeface="Helvetica Neue"/>
              </a:rPr>
              <a:t>commits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6A3"/>
                </a:solidFill>
                <a:latin typeface="Menlo"/>
              </a:rPr>
              <a:t>github.com/milliyx/Cryptography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368783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Estándares y guías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>Referencias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33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00E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E5A8"/>
                </a:solidFill>
                <a:latin typeface="Helvetica Neue"/>
              </a:rPr>
              <a:t>Estándares · RFCs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NIST SP 800-38D — GCM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RFC 7539 — ChaCha20 + Poly1305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RFC 7748 — X25519 (Curve25519)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RFC 7914 — scrypt KDF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RFC 8032 — Ed25519 (EdDSA)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RFC 9180 — HPKE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RFC 5869 — HKDF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A2129"/>
          </a:solidFill>
          <a:ln w="1270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C8EFF"/>
                </a:solidFill>
                <a:latin typeface="Helvetica Neue"/>
              </a:rPr>
              <a:t>Guías · Librerías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OWASP Password Storage Cheat 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06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OWASP Cryptographic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63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libsodium / NaCl misuse-resistant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20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cryptography (pyca) — primitivas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hashlib.scrypt — stdlib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34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EF2"/>
                </a:solidFill>
                <a:latin typeface="Helvetica Neue"/>
              </a:rPr>
              <a:t>● pytest — testing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804201" cy="54864"/>
          </a:xfrm>
          <a:prstGeom prst="rect">
            <a:avLst/>
          </a:prstGeom>
          <a:solidFill>
            <a:srgbClr val="00E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E5A8"/>
                </a:solidFill>
                <a:latin typeface="Helvetica Neue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96A3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6A3"/>
                </a:solidFill>
                <a:latin typeface="Helvetica Neue"/>
              </a:rPr>
              <a:t>34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0" b="1" i="0">
                <a:solidFill>
                  <a:srgbClr val="00E5A8"/>
                </a:solidFill>
                <a:latin typeface="Helvetica Neue"/>
              </a:rPr>
              <a:t>¿Preguntas?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E8EEF2"/>
                </a:solidFill>
                <a:latin typeface="Helvetica Neue"/>
              </a:rPr>
              <a:t>Equipo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8B96A3"/>
                </a:solidFill>
                <a:latin typeface="Helvetica Neue"/>
              </a:rPr>
              <a:t>Barrios · Caballero · Contreras · Martínez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B96A3"/>
                </a:solidFill>
                <a:latin typeface="Menlo"/>
              </a:rPr>
              <a:t>github.com/milliyx/Cryptography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